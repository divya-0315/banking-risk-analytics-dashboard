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E3B-2E40-41C6-9BB3-3109D4B49129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3B1-9462-4615-B6CC-01F3F9D4C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490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E3B-2E40-41C6-9BB3-3109D4B49129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3B1-9462-4615-B6CC-01F3F9D4C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19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E3B-2E40-41C6-9BB3-3109D4B49129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3B1-9462-4615-B6CC-01F3F9D4C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951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E3B-2E40-41C6-9BB3-3109D4B49129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3B1-9462-4615-B6CC-01F3F9D4C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446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E3B-2E40-41C6-9BB3-3109D4B49129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3B1-9462-4615-B6CC-01F3F9D4C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378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E3B-2E40-41C6-9BB3-3109D4B49129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3B1-9462-4615-B6CC-01F3F9D4C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397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E3B-2E40-41C6-9BB3-3109D4B49129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3B1-9462-4615-B6CC-01F3F9D4C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006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E3B-2E40-41C6-9BB3-3109D4B49129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3B1-9462-4615-B6CC-01F3F9D4C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842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E3B-2E40-41C6-9BB3-3109D4B49129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3B1-9462-4615-B6CC-01F3F9D4C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313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E3B-2E40-41C6-9BB3-3109D4B49129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3B1-9462-4615-B6CC-01F3F9D4C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591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E3B-2E40-41C6-9BB3-3109D4B49129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3B1-9462-4615-B6CC-01F3F9D4C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171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8BE3B-2E40-41C6-9BB3-3109D4B49129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783B1-9462-4615-B6CC-01F3F9D4C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72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10" Type="http://schemas.openxmlformats.org/officeDocument/2006/relationships/image" Target="../media/image22.png"/><Relationship Id="rId4" Type="http://schemas.openxmlformats.org/officeDocument/2006/relationships/image" Target="../media/image10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CA65C-639B-CBAB-68EC-78B86831ED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091" y="612173"/>
            <a:ext cx="11734800" cy="547255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BANKING RISK ANALYTICS DASHBOARD USING POWER BI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46A4C6-DE5A-5D29-E857-9AF76B405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2480" y="2754645"/>
            <a:ext cx="8178320" cy="2257923"/>
          </a:xfrm>
          <a:solidFill>
            <a:schemeClr val="bg1">
              <a:lumMod val="95000"/>
            </a:schemeClr>
          </a:solidFill>
        </p:spPr>
        <p:txBody>
          <a:bodyPr numCol="2" spcCol="180000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1400" b="1" cap="none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Project Overview:</a:t>
            </a:r>
          </a:p>
          <a:p>
            <a:pPr algn="just">
              <a:lnSpc>
                <a:spcPct val="100000"/>
              </a:lnSpc>
            </a:pPr>
            <a:r>
              <a:rPr lang="en-US" sz="1400" cap="none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Interactive Banking Analytics Solution for:</a:t>
            </a:r>
          </a:p>
          <a:p>
            <a:pPr algn="just">
              <a:lnSpc>
                <a:spcPct val="10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💰 </a:t>
            </a:r>
            <a:r>
              <a:rPr lang="en-US" sz="1400" cap="none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Loan analysis</a:t>
            </a:r>
          </a:p>
          <a:p>
            <a:pPr algn="just">
              <a:lnSpc>
                <a:spcPct val="10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🏦 </a:t>
            </a:r>
            <a:r>
              <a:rPr lang="en-US" sz="1400" cap="none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Deposit Analysis</a:t>
            </a:r>
          </a:p>
          <a:p>
            <a:pPr algn="just">
              <a:lnSpc>
                <a:spcPct val="10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📊 </a:t>
            </a:r>
            <a:r>
              <a:rPr lang="en-US" sz="1400" cap="none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Banking KPI Tracking</a:t>
            </a:r>
          </a:p>
          <a:p>
            <a:pPr algn="just">
              <a:lnSpc>
                <a:spcPct val="100000"/>
              </a:lnSpc>
            </a:pPr>
            <a:r>
              <a:rPr lang="en-US" sz="1400" cap="none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🛡️Risk Insights</a:t>
            </a:r>
          </a:p>
          <a:p>
            <a:pPr algn="just">
              <a:lnSpc>
                <a:spcPct val="100000"/>
              </a:lnSpc>
            </a:pPr>
            <a:r>
              <a:rPr lang="en-US" sz="1400" b="1" cap="none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Tools &amp; Technologies:</a:t>
            </a:r>
          </a:p>
          <a:p>
            <a:pPr algn="just">
              <a:lnSpc>
                <a:spcPct val="100000"/>
              </a:lnSpc>
            </a:pPr>
            <a:endParaRPr lang="en-US" sz="1600" cap="none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EFAB62-4393-4346-5BFA-C317FBCE3B1C}"/>
              </a:ext>
            </a:extLst>
          </p:cNvPr>
          <p:cNvSpPr txBox="1"/>
          <p:nvPr/>
        </p:nvSpPr>
        <p:spPr>
          <a:xfrm>
            <a:off x="630382" y="1247250"/>
            <a:ext cx="11028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Power BI | DAX | Banking Insights</a:t>
            </a:r>
            <a:endParaRPr lang="en-IN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980C42-35DD-9355-9EC8-650B8339BD98}"/>
              </a:ext>
            </a:extLst>
          </p:cNvPr>
          <p:cNvSpPr txBox="1"/>
          <p:nvPr/>
        </p:nvSpPr>
        <p:spPr>
          <a:xfrm>
            <a:off x="4606636" y="5322879"/>
            <a:ext cx="2978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Data Analytics Project |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2C7F91-5481-88FF-4D82-67652DEB549D}"/>
              </a:ext>
            </a:extLst>
          </p:cNvPr>
          <p:cNvSpPr txBox="1"/>
          <p:nvPr/>
        </p:nvSpPr>
        <p:spPr>
          <a:xfrm>
            <a:off x="9670471" y="5742428"/>
            <a:ext cx="17520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Presented by:</a:t>
            </a:r>
          </a:p>
          <a:p>
            <a:pPr algn="r"/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Divyaa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Shri B</a:t>
            </a: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26" name="Picture 2" descr="Microsoft Powerpoint Icon">
            <a:extLst>
              <a:ext uri="{FF2B5EF4-FFF2-40B4-BE49-F238E27FC236}">
                <a16:creationId xmlns:a16="http://schemas.microsoft.com/office/drawing/2014/main" id="{D6217EEB-580F-0354-4849-05259AF22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8297" y="5792738"/>
            <a:ext cx="573397" cy="573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2E6B42-78CF-AF55-4EDC-F3A3642090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63" r="33737" b="19485"/>
          <a:stretch/>
        </p:blipFill>
        <p:spPr>
          <a:xfrm>
            <a:off x="7842008" y="1801156"/>
            <a:ext cx="457200" cy="6441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89DD88-5B37-B262-ABA2-75B1C69F8E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0983" y="1796549"/>
            <a:ext cx="600508" cy="6005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F73062-5945-FDA3-1C60-9C9E1BA3E4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2672" y="1772909"/>
            <a:ext cx="647787" cy="6477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5352250-65FC-F055-8DE5-732A20A4AB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40" y="1836949"/>
            <a:ext cx="647787" cy="6477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C75F880-7C6A-17E6-7211-31292803E3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035" y="3144886"/>
            <a:ext cx="556563" cy="55656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0BD62E9-DF72-CEFF-E92D-326A7872ED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63" r="33737" b="19485"/>
          <a:stretch/>
        </p:blipFill>
        <p:spPr>
          <a:xfrm>
            <a:off x="9045023" y="4587021"/>
            <a:ext cx="457200" cy="51524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009F6BF-4B91-30DB-E078-3D081A7C882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1" t="21280" r="12235" b="15507"/>
          <a:stretch/>
        </p:blipFill>
        <p:spPr>
          <a:xfrm>
            <a:off x="8991720" y="3811218"/>
            <a:ext cx="621289" cy="55656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F0DB3F1-D924-636A-8C11-B936F8A30BF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25" b="47294"/>
          <a:stretch/>
        </p:blipFill>
        <p:spPr>
          <a:xfrm>
            <a:off x="7208788" y="4665455"/>
            <a:ext cx="1266439" cy="39742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924E708-7E56-AFD9-17E6-4725F311E86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660" y="3144886"/>
            <a:ext cx="556563" cy="5565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6AFA8AD-B12D-12ED-8A80-EEFBF020960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364" y="3874358"/>
            <a:ext cx="621289" cy="62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78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AACBB-94F4-381A-0B63-EEA843F74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475817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2CA46-D226-A85F-EC7B-7FED5A2711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8" y="960427"/>
            <a:ext cx="4937760" cy="561096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Objective</a:t>
            </a:r>
          </a:p>
          <a:p>
            <a:pPr marL="0" indent="0" algn="just">
              <a:buNone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✔️ This project focuses on analyzing banking customer data to monitor loans, deposits, customer relationships, and banking KPIs through an interactive Power BI dashboard.</a:t>
            </a:r>
          </a:p>
          <a:p>
            <a:pPr marL="0" indent="0">
              <a:buNone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✔️ The dashboard helps identify business trends, customer behavior patterns, and banking performance insights for better decision-making.</a:t>
            </a:r>
          </a:p>
          <a:p>
            <a:pPr marL="0" indent="0">
              <a:buNone/>
            </a:pP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Business Problem Statement</a:t>
            </a:r>
          </a:p>
          <a:p>
            <a:pPr marL="0" indent="0" algn="just">
              <a:buNone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📌 Banks manage large volumes of customer financial data daily. Analyzing loans, deposits, customer segmentation, and banking relationships manually becomes difficult and time-consuming.</a:t>
            </a:r>
          </a:p>
          <a:p>
            <a:pPr marL="0" indent="0" algn="just">
              <a:buNone/>
            </a:pP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IN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Key Goals of the Dashboard</a:t>
            </a:r>
          </a:p>
          <a:p>
            <a:pPr marL="0" indent="0">
              <a:buNone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📊 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Analyse customer loan distribution</a:t>
            </a:r>
          </a:p>
          <a:p>
            <a:pPr marL="0" indent="0">
              <a:buNone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🏧 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Monitor total deposits and account types</a:t>
            </a:r>
          </a:p>
          <a:p>
            <a:pPr marL="0" indent="0">
              <a:buNone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📇 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Track banking relationship categories</a:t>
            </a:r>
          </a:p>
          <a:p>
            <a:pPr marL="0" indent="0">
              <a:buNone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🧩 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Identify customer income patterns</a:t>
            </a:r>
          </a:p>
          <a:p>
            <a:pPr marL="0" indent="0">
              <a:buNone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📈 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Generate business insights using interactive visuals</a:t>
            </a:r>
          </a:p>
          <a:p>
            <a:pPr marL="0" indent="0">
              <a:buNone/>
            </a:pP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AFDF392-90F5-8BDE-D14E-B9C769026DF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964" y="960427"/>
            <a:ext cx="5181600" cy="2914650"/>
          </a:xfrm>
        </p:spPr>
      </p:pic>
      <p:pic>
        <p:nvPicPr>
          <p:cNvPr id="1026" name="Picture 2" descr="Banking Finance Line Linear Icons | Nulivo Market">
            <a:extLst>
              <a:ext uri="{FF2B5EF4-FFF2-40B4-BE49-F238E27FC236}">
                <a16:creationId xmlns:a16="http://schemas.microsoft.com/office/drawing/2014/main" id="{7952DD09-A4F3-61B1-1225-43562CEDE4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64" t="16923" r="6461" b="4718"/>
          <a:stretch/>
        </p:blipFill>
        <p:spPr bwMode="auto">
          <a:xfrm>
            <a:off x="6156964" y="4073084"/>
            <a:ext cx="2686933" cy="2299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ank - Free business icons">
            <a:extLst>
              <a:ext uri="{FF2B5EF4-FFF2-40B4-BE49-F238E27FC236}">
                <a16:creationId xmlns:a16="http://schemas.microsoft.com/office/drawing/2014/main" id="{780235E8-43B3-86AB-41A0-2F1CACDCB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5823" y="4073084"/>
            <a:ext cx="2372741" cy="2239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9DB36D-913D-0130-2E8D-0C7587FC35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18" y="2996735"/>
            <a:ext cx="246170" cy="2461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500F77-7FD7-0428-95B2-86E9CC1AAF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18" y="960427"/>
            <a:ext cx="246170" cy="24617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AC76669-E998-0CB5-C707-9175A4700C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19" y="4529073"/>
            <a:ext cx="246169" cy="24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419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299C3-8A9C-FD74-2274-593F053D7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726"/>
            <a:ext cx="10515600" cy="556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Dataset &amp; 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D50C1-9072-DD23-55B3-DD48B3079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221" y="769289"/>
            <a:ext cx="7186542" cy="60887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Dataset Overview</a:t>
            </a:r>
          </a:p>
          <a:p>
            <a:pPr marL="0" indent="0">
              <a:buNone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The dataset contains banking customer information related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Customer demographics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Loan details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Deposit information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Banking relationship types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Income categories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Account balances </a:t>
            </a:r>
          </a:p>
          <a:p>
            <a:pPr marL="0" indent="0">
              <a:buNone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This data is used to analyze banking performance and customer financial behavior.</a:t>
            </a:r>
          </a:p>
          <a:p>
            <a:pPr marL="0" indent="0">
              <a:buNone/>
            </a:pP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Data Preparation Process</a:t>
            </a:r>
          </a:p>
          <a:p>
            <a:pPr marL="0" indent="0">
              <a:buNone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The raw dataset was cleaned and transformed using Power Query before visualization.</a:t>
            </a:r>
          </a:p>
          <a:p>
            <a:pPr marL="0" indent="0">
              <a:buNone/>
            </a:pP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IN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Data Cleaning Steps Performed</a:t>
            </a:r>
          </a:p>
          <a:p>
            <a:pPr marL="0" indent="0">
              <a:buNone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✔️ 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Removed null and duplicate values</a:t>
            </a:r>
          </a:p>
          <a:p>
            <a:pPr marL="0" indent="0">
              <a:buNone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✔️ 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Standardized column names</a:t>
            </a:r>
          </a:p>
          <a:p>
            <a:pPr marL="0" indent="0">
              <a:buNone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✔️ 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Corrected inconsistent categories</a:t>
            </a:r>
          </a:p>
          <a:p>
            <a:pPr marL="0" indent="0">
              <a:buNone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✔️ 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Formatted numeric and currency fields</a:t>
            </a:r>
          </a:p>
          <a:p>
            <a:pPr marL="0" indent="0">
              <a:buNone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✔️ 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Created calculated columns for analysis</a:t>
            </a:r>
          </a:p>
          <a:p>
            <a:pPr marL="0" indent="0">
              <a:buNone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✔️ 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Validated banking KPI values</a:t>
            </a:r>
          </a:p>
          <a:p>
            <a:pPr marL="0" indent="0">
              <a:buNone/>
            </a:pP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B4A325-3E30-2C68-FF98-0FE55E5DB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263" y="1605356"/>
            <a:ext cx="556563" cy="5565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16AF6A-4397-85F9-0A77-4F4D91D82D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740" y="1562601"/>
            <a:ext cx="642072" cy="6420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5231F2-DB70-745F-6138-000E177815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988" y="1543447"/>
            <a:ext cx="621289" cy="6212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FC8D06-13CA-1AC8-48D8-E6862DF83E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63" r="33737" b="19485"/>
          <a:stretch/>
        </p:blipFill>
        <p:spPr>
          <a:xfrm>
            <a:off x="10472974" y="1514548"/>
            <a:ext cx="457200" cy="64419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B7735B8-FAC9-E83F-BBA2-7CE1CA086A3C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7223826" y="1883637"/>
            <a:ext cx="75726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8AF25C3-CC79-B667-DDD5-B5A5DBE398CF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8417217" y="1854092"/>
            <a:ext cx="756771" cy="32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2EA63A2-7D18-3D19-36CB-19D3EE6F5CB5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9795277" y="1836643"/>
            <a:ext cx="677697" cy="17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92947E4F-BC96-CBA6-0C1C-C211961CFF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5655" y="2437019"/>
            <a:ext cx="4797954" cy="299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607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08A58-9297-2800-866F-42CF69057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1566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End-To-End Banking Analytics Workflow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073" name="Content Placeholder 3072">
            <a:extLst>
              <a:ext uri="{FF2B5EF4-FFF2-40B4-BE49-F238E27FC236}">
                <a16:creationId xmlns:a16="http://schemas.microsoft.com/office/drawing/2014/main" id="{70B046FD-CAE3-021E-C281-AFD5B87AAA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5438" y="949524"/>
            <a:ext cx="4238976" cy="1943702"/>
          </a:xfr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999861-EAB4-7423-6DFC-18614C1EFC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18" y="1041850"/>
            <a:ext cx="556563" cy="5565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50D885-409E-B4D0-D475-BD40C6A845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18" y="2851933"/>
            <a:ext cx="556563" cy="556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9B4080-150F-672F-EFBA-BBB426AB8D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63" r="33737" b="19485"/>
          <a:stretch/>
        </p:blipFill>
        <p:spPr>
          <a:xfrm>
            <a:off x="640361" y="3882264"/>
            <a:ext cx="395677" cy="4816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C1A408-AAB6-4209-8B4B-861AE10579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18" y="1897805"/>
            <a:ext cx="556563" cy="5565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F30C7C-9A7F-4964-537D-0EBDA4AD17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18" y="4855438"/>
            <a:ext cx="556563" cy="556563"/>
          </a:xfrm>
          <a:prstGeom prst="rect">
            <a:avLst/>
          </a:prstGeom>
        </p:spPr>
      </p:pic>
      <p:pic>
        <p:nvPicPr>
          <p:cNvPr id="3074" name="Picture 2" descr="Insight - Free business and finance icons">
            <a:extLst>
              <a:ext uri="{FF2B5EF4-FFF2-40B4-BE49-F238E27FC236}">
                <a16:creationId xmlns:a16="http://schemas.microsoft.com/office/drawing/2014/main" id="{ECF3D4C0-4631-F4FF-247A-371091746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37" y="5825943"/>
            <a:ext cx="421589" cy="421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17C4FD7-94CB-923A-330C-9EED6B123EFA}"/>
              </a:ext>
            </a:extLst>
          </p:cNvPr>
          <p:cNvSpPr txBox="1"/>
          <p:nvPr/>
        </p:nvSpPr>
        <p:spPr>
          <a:xfrm>
            <a:off x="1308748" y="1185270"/>
            <a:ext cx="12053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MS Excel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31C97C-465F-5C4F-50F6-BDCE6D6120DE}"/>
              </a:ext>
            </a:extLst>
          </p:cNvPr>
          <p:cNvSpPr txBox="1"/>
          <p:nvPr/>
        </p:nvSpPr>
        <p:spPr>
          <a:xfrm>
            <a:off x="1308748" y="2090085"/>
            <a:ext cx="1579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My SQL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A3B345-E0C6-22D8-1C3D-0CA9DFB70046}"/>
              </a:ext>
            </a:extLst>
          </p:cNvPr>
          <p:cNvSpPr txBox="1"/>
          <p:nvPr/>
        </p:nvSpPr>
        <p:spPr>
          <a:xfrm>
            <a:off x="1308747" y="3026373"/>
            <a:ext cx="12053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Python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A10C50-B518-8952-E66A-3047F4D2B75A}"/>
              </a:ext>
            </a:extLst>
          </p:cNvPr>
          <p:cNvSpPr txBox="1"/>
          <p:nvPr/>
        </p:nvSpPr>
        <p:spPr>
          <a:xfrm>
            <a:off x="1277974" y="4023535"/>
            <a:ext cx="10390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Power BI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9E8CEA-B6C1-9ECC-F777-70206B17B6C1}"/>
              </a:ext>
            </a:extLst>
          </p:cNvPr>
          <p:cNvSpPr txBox="1"/>
          <p:nvPr/>
        </p:nvSpPr>
        <p:spPr>
          <a:xfrm>
            <a:off x="1277974" y="4988210"/>
            <a:ext cx="1579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Dashboard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588ABB-5A1D-FBAE-A030-FF1AB80A6234}"/>
              </a:ext>
            </a:extLst>
          </p:cNvPr>
          <p:cNvSpPr txBox="1"/>
          <p:nvPr/>
        </p:nvSpPr>
        <p:spPr>
          <a:xfrm>
            <a:off x="1308747" y="5925947"/>
            <a:ext cx="1842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Insights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DF4F70D-A0E3-D116-D5E0-CE7D37488CEA}"/>
              </a:ext>
            </a:extLst>
          </p:cNvPr>
          <p:cNvCxnSpPr>
            <a:stCxn id="4" idx="2"/>
            <a:endCxn id="11" idx="0"/>
          </p:cNvCxnSpPr>
          <p:nvPr/>
        </p:nvCxnSpPr>
        <p:spPr>
          <a:xfrm>
            <a:off x="838200" y="1598413"/>
            <a:ext cx="0" cy="299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8F047C4-A80F-CB3D-44E6-1EFEDB4FDDE9}"/>
              </a:ext>
            </a:extLst>
          </p:cNvPr>
          <p:cNvCxnSpPr>
            <a:cxnSpLocks/>
            <a:stCxn id="11" idx="2"/>
            <a:endCxn id="6" idx="0"/>
          </p:cNvCxnSpPr>
          <p:nvPr/>
        </p:nvCxnSpPr>
        <p:spPr>
          <a:xfrm>
            <a:off x="838200" y="2454368"/>
            <a:ext cx="0" cy="397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05773E1-29D3-B049-E52E-A536F8591D0D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838200" y="3408496"/>
            <a:ext cx="0" cy="473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4452E84-2AB9-9AB6-C4FE-7B18D5C3505D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838200" y="4363933"/>
            <a:ext cx="0" cy="491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2FFAB95-F724-6B4F-448D-9645D57F3EFA}"/>
              </a:ext>
            </a:extLst>
          </p:cNvPr>
          <p:cNvCxnSpPr>
            <a:cxnSpLocks/>
            <a:stCxn id="13" idx="2"/>
            <a:endCxn id="3074" idx="0"/>
          </p:cNvCxnSpPr>
          <p:nvPr/>
        </p:nvCxnSpPr>
        <p:spPr>
          <a:xfrm flipH="1">
            <a:off x="834832" y="5412001"/>
            <a:ext cx="3368" cy="413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22F293C-C160-3777-42C3-9B7F26BEC7BB}"/>
              </a:ext>
            </a:extLst>
          </p:cNvPr>
          <p:cNvSpPr txBox="1"/>
          <p:nvPr/>
        </p:nvSpPr>
        <p:spPr>
          <a:xfrm>
            <a:off x="2226758" y="2950728"/>
            <a:ext cx="3021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EDA • Cleaning • Visualization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Pandas • Matplotlib • Seaborn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C2C4A2B-A95F-7406-BFF4-6AB944655E2D}"/>
              </a:ext>
            </a:extLst>
          </p:cNvPr>
          <p:cNvSpPr txBox="1"/>
          <p:nvPr/>
        </p:nvSpPr>
        <p:spPr>
          <a:xfrm>
            <a:off x="2226758" y="3856871"/>
            <a:ext cx="46046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DAX • KPI • Modeling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Power Query • Interactive Visuals • 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Dashboard Preparation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9390848-76ED-CCE3-976C-DBBE46E63E23}"/>
              </a:ext>
            </a:extLst>
          </p:cNvPr>
          <p:cNvSpPr txBox="1"/>
          <p:nvPr/>
        </p:nvSpPr>
        <p:spPr>
          <a:xfrm>
            <a:off x="2230074" y="1180274"/>
            <a:ext cx="4270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Data Collection • Raw Banking Dataset • CSV/Excel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66AA6B-82FC-E4A4-0D1D-5DF908612838}"/>
              </a:ext>
            </a:extLst>
          </p:cNvPr>
          <p:cNvSpPr txBox="1"/>
          <p:nvPr/>
        </p:nvSpPr>
        <p:spPr>
          <a:xfrm>
            <a:off x="2230074" y="2105822"/>
            <a:ext cx="3407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Data Storage • Structured Tables • Querying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F7A5930-3A57-1768-5DD9-8AF6ED78C50A}"/>
              </a:ext>
            </a:extLst>
          </p:cNvPr>
          <p:cNvSpPr txBox="1"/>
          <p:nvPr/>
        </p:nvSpPr>
        <p:spPr>
          <a:xfrm>
            <a:off x="2226758" y="4894013"/>
            <a:ext cx="39834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Interactive Visuals • Filters • Slicers • KPI Cards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Lo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an &amp; Deposit Analysis • Customer Segmentation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9D9C3E8-519C-E6D5-5C10-B05DFC9F05A6}"/>
              </a:ext>
            </a:extLst>
          </p:cNvPr>
          <p:cNvSpPr txBox="1"/>
          <p:nvPr/>
        </p:nvSpPr>
        <p:spPr>
          <a:xfrm>
            <a:off x="2226757" y="5763742"/>
            <a:ext cx="4604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Banking KPI Analysis • Risk Insights • Recommendations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Trend Analysis • Decision-Making Support</a:t>
            </a:r>
          </a:p>
        </p:txBody>
      </p:sp>
      <p:pic>
        <p:nvPicPr>
          <p:cNvPr id="3080" name="Picture 3079">
            <a:extLst>
              <a:ext uri="{FF2B5EF4-FFF2-40B4-BE49-F238E27FC236}">
                <a16:creationId xmlns:a16="http://schemas.microsoft.com/office/drawing/2014/main" id="{1950B7FA-2089-A82E-7A7A-E7CA7BC3A8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1418" y="4595535"/>
            <a:ext cx="4222996" cy="1897339"/>
          </a:xfrm>
          <a:prstGeom prst="rect">
            <a:avLst/>
          </a:prstGeom>
        </p:spPr>
      </p:pic>
      <p:pic>
        <p:nvPicPr>
          <p:cNvPr id="3082" name="Picture 3081">
            <a:extLst>
              <a:ext uri="{FF2B5EF4-FFF2-40B4-BE49-F238E27FC236}">
                <a16:creationId xmlns:a16="http://schemas.microsoft.com/office/drawing/2014/main" id="{E1CD0436-13AB-C64A-D5B4-08D63DFE5C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9976" y="2538208"/>
            <a:ext cx="3599109" cy="259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910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0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30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/>
      <p:bldP spid="19" grpId="0"/>
      <p:bldP spid="20" grpId="0"/>
      <p:bldP spid="21" grpId="0"/>
      <p:bldP spid="22" grpId="0"/>
      <p:bldP spid="23" grpId="0"/>
      <p:bldP spid="52" grpId="0"/>
      <p:bldP spid="53" grpId="0"/>
      <p:bldP spid="54" grpId="0"/>
      <p:bldP spid="55" grpId="0"/>
      <p:bldP spid="61" grpId="0"/>
      <p:bldP spid="6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CBF4D-7B3D-3D5E-519C-B0088DE40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178"/>
            <a:ext cx="10515600" cy="675884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Dashboard Overview &amp; KPIs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F073F-FE63-633F-E221-927361F0F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610" y="1041010"/>
            <a:ext cx="3587262" cy="56488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Dashboard Overview</a:t>
            </a:r>
          </a:p>
          <a:p>
            <a:pPr marL="0" indent="0" algn="just">
              <a:buNone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The interactive Power BI dashboard provides a centralized view of banking operations, customer financial behavior, loans, deposits, and key banking performance indicators through dynamic visualizations and filtering capabilities.</a:t>
            </a:r>
          </a:p>
          <a:p>
            <a:pPr marL="0" indent="0">
              <a:buNone/>
            </a:pPr>
            <a:endParaRPr lang="en-US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IN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Key KPIs Monitored</a:t>
            </a:r>
          </a:p>
          <a:p>
            <a:pPr marL="0" indent="0">
              <a:buNone/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👥 Total Clients</a:t>
            </a:r>
            <a:b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💰 Total Loans</a:t>
            </a:r>
            <a:b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🏦 Total Deposits</a:t>
            </a:r>
            <a:b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📈 Business Lending</a:t>
            </a:r>
            <a:b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💳 Credit Card Balance</a:t>
            </a:r>
          </a:p>
          <a:p>
            <a:pPr marL="0" indent="0">
              <a:buNone/>
            </a:pP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IN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Interactive Features</a:t>
            </a:r>
          </a:p>
          <a:p>
            <a:pPr marL="0" indent="0">
              <a:buNone/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🎛 Dynamic Filters &amp; Slicers</a:t>
            </a:r>
            <a:b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📈 Real-Time KPI Monitoring</a:t>
            </a:r>
            <a:b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🔄 Interactive Navigation</a:t>
            </a:r>
            <a:b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📊 Cross-Filtering Visualizations</a:t>
            </a:r>
            <a:b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📅 Year-wise Analysis</a:t>
            </a:r>
            <a:b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🏦 Banking Relationship Analysis</a:t>
            </a:r>
          </a:p>
          <a:p>
            <a:pPr marL="0" indent="0">
              <a:buNone/>
            </a:pP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E6BB71-79B6-2075-7EE6-E6261D076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971" y="1083047"/>
            <a:ext cx="4051494" cy="22615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60218A-2319-A94B-EBBB-4F2E659E8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421" y="3652764"/>
            <a:ext cx="4046495" cy="22611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296022-C8D8-5756-7EDB-3E6351AFC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422" y="1081512"/>
            <a:ext cx="4051494" cy="22663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A173E0-81FB-42BA-6963-D0E6F188FE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3872" y="3652764"/>
            <a:ext cx="4051593" cy="22631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F9C4AEE-223B-A544-96B3-2850B6AA162C}"/>
              </a:ext>
            </a:extLst>
          </p:cNvPr>
          <p:cNvSpPr txBox="1"/>
          <p:nvPr/>
        </p:nvSpPr>
        <p:spPr>
          <a:xfrm>
            <a:off x="4107766" y="6153343"/>
            <a:ext cx="72460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Analytics Dashboard developed using Power BI</a:t>
            </a: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2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3B4BE-88D0-9E04-5B40-8F8791730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3004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Key Insights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09E3E-DA6B-EA30-EA16-958657D9F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69" y="1306423"/>
            <a:ext cx="11207262" cy="3308938"/>
          </a:xfrm>
        </p:spPr>
        <p:txBody>
          <a:bodyPr numCol="2" spcCol="18000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Key Business Insights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📈 Commercial banking customers contribute the highest deposit amounts.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👥 Medium-income customers represent a major portion of banking activity.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💰 Business lending contributes significantly to the total loan portfolio.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🏦 Private banking customers show higher engagement and account activity.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📊 Interactive KPI monitoring helps identify customer financial patterns and banking performance trends.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IN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IN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IN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The Banking Risk &amp; Customer Analytics Dashboard successfully transformed raw banking data into meaningful business insights using interactive visualizations and KPI-driven reporting.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This project enhanced understanding of: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Banking analytics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Business intelligence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Dashboard storytelling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KPI reporting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Interactive Power BI development</a:t>
            </a:r>
          </a:p>
          <a:p>
            <a:pPr marL="0" indent="0">
              <a:lnSpc>
                <a:spcPct val="100000"/>
              </a:lnSpc>
              <a:buNone/>
            </a:pPr>
            <a:endParaRPr lang="en-IN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06DEF7-EF00-4219-1129-BAEEEE20D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69" y="5269663"/>
            <a:ext cx="556563" cy="5565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93E715-853B-AF07-2D67-434A81458C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63" r="33737" b="19485"/>
          <a:stretch/>
        </p:blipFill>
        <p:spPr>
          <a:xfrm>
            <a:off x="6889763" y="5310978"/>
            <a:ext cx="457200" cy="5152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DC509B-6253-A833-13A7-D2FC60022C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9" t="18065" r="17939" b="18722"/>
          <a:stretch/>
        </p:blipFill>
        <p:spPr>
          <a:xfrm>
            <a:off x="3810963" y="5269662"/>
            <a:ext cx="556563" cy="556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41786E-77FA-3DF6-DC7A-8DFF9759FE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25" b="47294"/>
          <a:stretch/>
        </p:blipFill>
        <p:spPr>
          <a:xfrm>
            <a:off x="5034303" y="5349231"/>
            <a:ext cx="1266439" cy="3974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453B95-144F-2116-2955-3F4EBEF222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336" y="5269662"/>
            <a:ext cx="556563" cy="5565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08EB75-33B4-A4B2-31EF-99B615EEB6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709" y="5269663"/>
            <a:ext cx="556563" cy="5565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22E92C-8E04-6F65-348C-C367EEC292C5}"/>
              </a:ext>
            </a:extLst>
          </p:cNvPr>
          <p:cNvSpPr txBox="1"/>
          <p:nvPr/>
        </p:nvSpPr>
        <p:spPr>
          <a:xfrm>
            <a:off x="492369" y="4730869"/>
            <a:ext cx="1771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Technologies Used</a:t>
            </a:r>
            <a:endParaRPr lang="en-IN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169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9EF72-9588-DEF5-DC1C-AF5596544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  <a:endParaRPr lang="en-IN" sz="5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579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515</TotalTime>
  <Words>551</Words>
  <Application>Microsoft Office PowerPoint</Application>
  <PresentationFormat>Widescreen</PresentationFormat>
  <Paragraphs>95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Segoe UI</vt:lpstr>
      <vt:lpstr>Times New Roman</vt:lpstr>
      <vt:lpstr>Office 2013 - 2022 Theme</vt:lpstr>
      <vt:lpstr>BANKING RISK ANALYTICS DASHBOARD USING POWER BI</vt:lpstr>
      <vt:lpstr>Project Overview</vt:lpstr>
      <vt:lpstr>Dataset &amp; Data Preparation</vt:lpstr>
      <vt:lpstr>End-To-End Banking Analytics Workflow</vt:lpstr>
      <vt:lpstr>Dashboard Overview &amp; KPIs</vt:lpstr>
      <vt:lpstr>Key Insights &amp; 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 Shri</dc:creator>
  <cp:lastModifiedBy>Divya Shri</cp:lastModifiedBy>
  <cp:revision>87</cp:revision>
  <dcterms:created xsi:type="dcterms:W3CDTF">2026-05-22T05:59:59Z</dcterms:created>
  <dcterms:modified xsi:type="dcterms:W3CDTF">2026-05-25T13:45:54Z</dcterms:modified>
</cp:coreProperties>
</file>